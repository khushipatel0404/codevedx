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embeddedFontLs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6408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19709"/>
            <a:ext cx="462855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Mobile App Signup Flow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375297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UI/UX Internship Project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[Khushi Kundariya]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52626"/>
            <a:ext cx="1194495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195117"/>
            <a:ext cx="148158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UI/UX INTERNSHIP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761455" y="3147864"/>
            <a:ext cx="460846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65341" y="3195117"/>
            <a:ext cx="73841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ea typeface="Inter" pitchFamily="34" charset="-122"/>
                <a:cs typeface="Inter" pitchFamily="34" charset="-120"/>
              </a:rPr>
              <a:t>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24362" y="350565"/>
            <a:ext cx="32814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24362" y="838498"/>
            <a:ext cx="492427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frequently abandon the signup process before completing registration. A confusing, slow, or insecure experience directly impacts user acquisition and retention.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3824362" y="1264444"/>
            <a:ext cx="4924276" cy="628278"/>
          </a:xfrm>
          <a:prstGeom prst="roundRect">
            <a:avLst>
              <a:gd name="adj" fmla="val 75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942085" y="1382167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Long Forms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42085" y="1612627"/>
            <a:ext cx="468883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Excessive input fields overwhelm users and increase drop-off rates.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824362" y="1982688"/>
            <a:ext cx="4924276" cy="628278"/>
          </a:xfrm>
          <a:prstGeom prst="roundRect">
            <a:avLst>
              <a:gd name="adj" fmla="val 75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42085" y="2100411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Confusing UI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42085" y="2330872"/>
            <a:ext cx="468883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visual hierarchy and unclear navigation frustrate first-time users.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824362" y="2700933"/>
            <a:ext cx="4924276" cy="628278"/>
          </a:xfrm>
          <a:prstGeom prst="roundRect">
            <a:avLst>
              <a:gd name="adj" fmla="val 75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42085" y="2818656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Concerns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942085" y="3049116"/>
            <a:ext cx="468883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hesitate to share data without clear trust signals.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824362" y="3419177"/>
            <a:ext cx="4924276" cy="628278"/>
          </a:xfrm>
          <a:prstGeom prst="roundRect">
            <a:avLst>
              <a:gd name="adj" fmla="val 75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42085" y="3536900"/>
            <a:ext cx="163167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Poor Mobile Experience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942085" y="3767361"/>
            <a:ext cx="468883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Non-responsive layouts break the flow on smaller screens.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824362" y="4148658"/>
            <a:ext cx="4924276" cy="543074"/>
          </a:xfrm>
          <a:prstGeom prst="roundRect">
            <a:avLst>
              <a:gd name="adj" fmla="val 8737"/>
            </a:avLst>
          </a:prstGeom>
          <a:solidFill>
            <a:srgbClr val="B6D6FC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322" y="4300463"/>
            <a:ext cx="141163" cy="11296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191446" y="4257824"/>
            <a:ext cx="4444231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</a:t>
            </a: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Design a quick, secure, and user-friendly signup flow that reduces friction and increases completion rates.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65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Research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9099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Users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571923"/>
            <a:ext cx="3921993" cy="9116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4077" y="17327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14077" y="2095946"/>
            <a:ext cx="352417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Tech-savvy but impatient with lengthy processes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2625328"/>
            <a:ext cx="3921993" cy="9116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077" y="278613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Professionals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14077" y="3149352"/>
            <a:ext cx="352417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speed, security, and clean design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3678734"/>
            <a:ext cx="3921993" cy="9116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4077" y="3839542"/>
            <a:ext cx="18328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First-Time App Users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14077" y="4202757"/>
            <a:ext cx="352417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clear guidance and reassurance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749701" y="119099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Needs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749701" y="1554212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registration with minimal steps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navigation and clear labels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authentication they can trust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749701" y="2475533"/>
            <a:ext cx="22846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Pain Points Identified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749701" y="2838748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 many input fields causing fatigue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OTP delays leading to frustration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or unclear password guidance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61652"/>
            <a:ext cx="3863950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Low-Fidelity Wireframes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894606"/>
            <a:ext cx="779494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Early-stage wireframes map out the structure and flow of each screen before visual design decisions are made. This ensures the user journey is logical and complete.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74489" y="2784574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Splash Screen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2651299" y="2784649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Welcome Screen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4628183" y="2784649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Sign Up Screen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6605067" y="2784649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OTP Screen</a:t>
            </a:r>
            <a:endParaRPr lang="en-US" sz="1100" dirty="0"/>
          </a:p>
        </p:txBody>
      </p:sp>
      <p:sp>
        <p:nvSpPr>
          <p:cNvPr id="13" name="Text 6"/>
          <p:cNvSpPr/>
          <p:nvPr/>
        </p:nvSpPr>
        <p:spPr>
          <a:xfrm>
            <a:off x="674489" y="4605189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Profile Setup</a:t>
            </a:r>
            <a:endParaRPr lang="en-US" sz="1100" dirty="0"/>
          </a:p>
        </p:txBody>
      </p:sp>
      <p:sp>
        <p:nvSpPr>
          <p:cNvPr id="15" name="Text 7"/>
          <p:cNvSpPr/>
          <p:nvPr/>
        </p:nvSpPr>
        <p:spPr>
          <a:xfrm>
            <a:off x="2651299" y="460526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Success Screen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77547D5-DCDA-0BCC-1893-C2D3252684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693" t="3970" r="38307" b="2066"/>
          <a:stretch>
            <a:fillRect/>
          </a:stretch>
        </p:blipFill>
        <p:spPr>
          <a:xfrm>
            <a:off x="590635" y="1245069"/>
            <a:ext cx="1441431" cy="14349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0B25EB5-5BAA-9ABF-2B2B-E353532F04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539" t="10769" r="38307" b="2941"/>
          <a:stretch>
            <a:fillRect/>
          </a:stretch>
        </p:blipFill>
        <p:spPr>
          <a:xfrm>
            <a:off x="2636208" y="1140468"/>
            <a:ext cx="1596684" cy="164410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AA6FDED-5BAB-56FF-88F0-205ACEFF89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981" t="10456" r="38634"/>
          <a:stretch>
            <a:fillRect/>
          </a:stretch>
        </p:blipFill>
        <p:spPr>
          <a:xfrm>
            <a:off x="4395555" y="1176262"/>
            <a:ext cx="2046849" cy="149587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F52D3D1-87C5-3F7B-1D13-A85CB0D9622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000" r="37385"/>
          <a:stretch>
            <a:fillRect/>
          </a:stretch>
        </p:blipFill>
        <p:spPr>
          <a:xfrm>
            <a:off x="6574952" y="1140468"/>
            <a:ext cx="2342271" cy="153950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91D3B8B-2D1C-CBCC-BD2E-D5FE3D82EE6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7924" t="9366" r="37615"/>
          <a:stretch>
            <a:fillRect/>
          </a:stretch>
        </p:blipFill>
        <p:spPr>
          <a:xfrm>
            <a:off x="192968" y="3035930"/>
            <a:ext cx="2236763" cy="156205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7E2687B-CAC7-F5EC-877B-ED9D7A4B4AC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7385" t="11770" r="37000"/>
          <a:stretch>
            <a:fillRect/>
          </a:stretch>
        </p:blipFill>
        <p:spPr>
          <a:xfrm>
            <a:off x="2606464" y="2956286"/>
            <a:ext cx="2342271" cy="16489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0838" y="222498"/>
            <a:ext cx="245075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Flow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1820838" y="1766739"/>
            <a:ext cx="2653903" cy="299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signup journey is designed to be linear and frictionless. Each screen has a single clear purpose, guiding users naturally from first launch to a fully activated account.</a:t>
            </a:r>
            <a:endParaRPr lang="en-US" sz="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022" y="589359"/>
            <a:ext cx="2653903" cy="26539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0838" y="3344168"/>
            <a:ext cx="159469" cy="99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1820838" y="3470077"/>
            <a:ext cx="2728764" cy="952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1820838" y="3528938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Splash Screen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820838" y="3680445"/>
            <a:ext cx="2728764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introduction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594399" y="3344168"/>
            <a:ext cx="159469" cy="99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4594399" y="3470077"/>
            <a:ext cx="2728764" cy="952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4594399" y="3528938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Welcome Screen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594399" y="3680445"/>
            <a:ext cx="2728764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context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1820838" y="3884712"/>
            <a:ext cx="159469" cy="99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1820838" y="4010620"/>
            <a:ext cx="2728764" cy="952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2"/>
          <p:cNvSpPr/>
          <p:nvPr/>
        </p:nvSpPr>
        <p:spPr>
          <a:xfrm>
            <a:off x="1820838" y="4069482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Sign Up Screen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820838" y="4220989"/>
            <a:ext cx="2728764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creation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4594399" y="3884712"/>
            <a:ext cx="159469" cy="99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4594399" y="4010620"/>
            <a:ext cx="2728764" cy="952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6"/>
          <p:cNvSpPr/>
          <p:nvPr/>
        </p:nvSpPr>
        <p:spPr>
          <a:xfrm>
            <a:off x="4594399" y="4069482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OTP Verification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594399" y="4220989"/>
            <a:ext cx="2728764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confirmation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1820838" y="4425255"/>
            <a:ext cx="159469" cy="99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1820838" y="4551164"/>
            <a:ext cx="2728764" cy="952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3" name="Text 20"/>
          <p:cNvSpPr/>
          <p:nvPr/>
        </p:nvSpPr>
        <p:spPr>
          <a:xfrm>
            <a:off x="1820838" y="4610026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Profile Setup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820838" y="4761533"/>
            <a:ext cx="2728764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Personalization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4594399" y="4425255"/>
            <a:ext cx="159469" cy="99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4594399" y="4551164"/>
            <a:ext cx="2728764" cy="952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7" name="Text 24"/>
          <p:cNvSpPr/>
          <p:nvPr/>
        </p:nvSpPr>
        <p:spPr>
          <a:xfrm>
            <a:off x="4594399" y="4610026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Success Screen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594399" y="4761533"/>
            <a:ext cx="2728764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Confirmation &amp; next steps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530796"/>
            <a:ext cx="389059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640" y="1225972"/>
            <a:ext cx="274662" cy="2746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0640" y="1666875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Email Signup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80640" y="1961183"/>
            <a:ext cx="400823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email-based registration with validation.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5121" y="1225972"/>
            <a:ext cx="274662" cy="2746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55121" y="1666875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Phone Signup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55121" y="1961183"/>
            <a:ext cx="400823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number registration with OTP verification.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640" y="2443535"/>
            <a:ext cx="274662" cy="2746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0640" y="2884438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OTP Verification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80640" y="3178746"/>
            <a:ext cx="400823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One-time password for secure identity confirmation.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5121" y="2443535"/>
            <a:ext cx="274662" cy="2746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55121" y="2884438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Password Strength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55121" y="3178746"/>
            <a:ext cx="400823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indicator guiding users to create strong passwords.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0640" y="3661097"/>
            <a:ext cx="274662" cy="27466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80640" y="410200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Login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480640" y="4396308"/>
            <a:ext cx="400823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One-tap social authentication for faster onboarding.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5121" y="3661097"/>
            <a:ext cx="274662" cy="27466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55121" y="410200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Apple Login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4655121" y="4396308"/>
            <a:ext cx="400823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Privacy-focused sign-in option for iOS users.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46918"/>
            <a:ext cx="32260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System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866031"/>
            <a:ext cx="8099301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consistent design system ensures visual harmony and scalability across all screens and future updates.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50912" y="1207591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Color Palette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50912" y="1415207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Typography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50912" y="1674688"/>
            <a:ext cx="3685952" cy="34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Headings: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Bold, prominent type for screen titles</a:t>
            </a:r>
            <a:endParaRPr lang="en-US" sz="85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Text: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Readable, medium weight for content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11750" y="1207591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 Components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1750" y="1477938"/>
            <a:ext cx="1799704" cy="1133029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8518" y="1572890"/>
            <a:ext cx="166092" cy="1660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36765" y="1910953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Buttons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836765" y="2170435"/>
            <a:ext cx="154967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Primary, secondary, and disabled states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7923" y="1477938"/>
            <a:ext cx="1799779" cy="1133029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14766" y="1572890"/>
            <a:ext cx="166092" cy="1660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22938" y="1910953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Fields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6722938" y="2170435"/>
            <a:ext cx="154974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Validated, labeled, and error-state ready</a:t>
            </a:r>
            <a:endParaRPr lang="en-US" sz="8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1750" y="2697435"/>
            <a:ext cx="1799704" cy="1133029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8518" y="2792388"/>
            <a:ext cx="166092" cy="1660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836765" y="3130451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Cards</a:t>
            </a:r>
            <a:endParaRPr lang="en-US" sz="1050" dirty="0"/>
          </a:p>
        </p:txBody>
      </p:sp>
      <p:sp>
        <p:nvSpPr>
          <p:cNvPr id="19" name="Text 11"/>
          <p:cNvSpPr/>
          <p:nvPr/>
        </p:nvSpPr>
        <p:spPr>
          <a:xfrm>
            <a:off x="4836765" y="3389933"/>
            <a:ext cx="154967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 components for grouped content</a:t>
            </a:r>
            <a:endParaRPr lang="en-US" sz="8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7923" y="2697435"/>
            <a:ext cx="1799779" cy="1133029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14766" y="2792388"/>
            <a:ext cx="166092" cy="16609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722938" y="3130451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Icons</a:t>
            </a:r>
            <a:endParaRPr lang="en-US" sz="1050" dirty="0"/>
          </a:p>
        </p:txBody>
      </p:sp>
      <p:sp>
        <p:nvSpPr>
          <p:cNvPr id="23" name="Text 13"/>
          <p:cNvSpPr/>
          <p:nvPr/>
        </p:nvSpPr>
        <p:spPr>
          <a:xfrm>
            <a:off x="6722938" y="3389933"/>
            <a:ext cx="154974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stroke weight and style</a:t>
            </a:r>
            <a:endParaRPr lang="en-US" sz="850" dirty="0"/>
          </a:p>
        </p:txBody>
      </p:sp>
      <p:sp>
        <p:nvSpPr>
          <p:cNvPr id="24" name="Shape 14"/>
          <p:cNvSpPr/>
          <p:nvPr/>
        </p:nvSpPr>
        <p:spPr>
          <a:xfrm>
            <a:off x="750912" y="4025131"/>
            <a:ext cx="2489671" cy="771376"/>
          </a:xfrm>
          <a:prstGeom prst="roundRect">
            <a:avLst>
              <a:gd name="adj" fmla="val 603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5" name="Text 15"/>
          <p:cNvSpPr/>
          <p:nvPr/>
        </p:nvSpPr>
        <p:spPr>
          <a:xfrm>
            <a:off x="866403" y="4140622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</a:t>
            </a:r>
            <a:endParaRPr lang="en-US" sz="1050" dirty="0"/>
          </a:p>
        </p:txBody>
      </p:sp>
      <p:sp>
        <p:nvSpPr>
          <p:cNvPr id="26" name="Text 16"/>
          <p:cNvSpPr/>
          <p:nvPr/>
        </p:nvSpPr>
        <p:spPr>
          <a:xfrm>
            <a:off x="866403" y="4365501"/>
            <a:ext cx="225869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color for CTAs and key elements</a:t>
            </a:r>
            <a:endParaRPr lang="en-US" sz="850" dirty="0"/>
          </a:p>
        </p:txBody>
      </p:sp>
      <p:sp>
        <p:nvSpPr>
          <p:cNvPr id="27" name="Shape 17"/>
          <p:cNvSpPr/>
          <p:nvPr/>
        </p:nvSpPr>
        <p:spPr>
          <a:xfrm>
            <a:off x="3327053" y="4025131"/>
            <a:ext cx="2489746" cy="771376"/>
          </a:xfrm>
          <a:prstGeom prst="roundRect">
            <a:avLst>
              <a:gd name="adj" fmla="val 603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3442543" y="4140622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Secondary</a:t>
            </a:r>
            <a:endParaRPr lang="en-US" sz="1050" dirty="0"/>
          </a:p>
        </p:txBody>
      </p:sp>
      <p:sp>
        <p:nvSpPr>
          <p:cNvPr id="29" name="Text 19"/>
          <p:cNvSpPr/>
          <p:nvPr/>
        </p:nvSpPr>
        <p:spPr>
          <a:xfrm>
            <a:off x="3442543" y="4365501"/>
            <a:ext cx="2258764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color for backgrounds and accents</a:t>
            </a:r>
            <a:endParaRPr lang="en-US" sz="850" dirty="0"/>
          </a:p>
        </p:txBody>
      </p:sp>
      <p:sp>
        <p:nvSpPr>
          <p:cNvPr id="30" name="Shape 20"/>
          <p:cNvSpPr/>
          <p:nvPr/>
        </p:nvSpPr>
        <p:spPr>
          <a:xfrm>
            <a:off x="5903268" y="4025131"/>
            <a:ext cx="2489671" cy="771376"/>
          </a:xfrm>
          <a:prstGeom prst="roundRect">
            <a:avLst>
              <a:gd name="adj" fmla="val 603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6018758" y="4140622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Accent</a:t>
            </a:r>
            <a:endParaRPr lang="en-US" sz="1050" dirty="0"/>
          </a:p>
        </p:txBody>
      </p:sp>
      <p:sp>
        <p:nvSpPr>
          <p:cNvPr id="32" name="Text 22"/>
          <p:cNvSpPr/>
          <p:nvPr/>
        </p:nvSpPr>
        <p:spPr>
          <a:xfrm>
            <a:off x="6018758" y="4365501"/>
            <a:ext cx="225869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color for alerts and highlights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06226"/>
            <a:ext cx="4301207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Usability Improvements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65162" y="1070670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8727" y="1116285"/>
            <a:ext cx="177075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Reduced Signup 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88727" y="1398687"/>
            <a:ext cx="779011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Streamlined steps and auto-fill support cut registration time significantly.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5162" y="1853803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8727" y="189941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Better Accessibility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8727" y="2181820"/>
            <a:ext cx="779011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contrast, readable fonts, and clear tap targets support all users.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5162" y="2636937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8727" y="268255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Error Prevention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8727" y="2964954"/>
            <a:ext cx="779011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Inline validation and helpful error messages reduce user mistakes.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5162" y="3420070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8727" y="3465686"/>
            <a:ext cx="176257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Improved Onboarding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8727" y="3748087"/>
            <a:ext cx="779011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guided, progressive flow builds user confidence from the first screen.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5162" y="4203204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8727" y="4248820"/>
            <a:ext cx="227141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Higher Conversion Potential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8727" y="4531221"/>
            <a:ext cx="779011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friction points directly improve signup completion rates.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5393" y="376014"/>
            <a:ext cx="406174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&amp; Thank You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855393" y="913730"/>
            <a:ext cx="486221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delivers a modern, secure, and user-centered signup experience — designed to reduce drop-off and build trust from the very first interaction.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855393" y="1393850"/>
            <a:ext cx="4862215" cy="2721471"/>
          </a:xfrm>
          <a:prstGeom prst="roundRect">
            <a:avLst>
              <a:gd name="adj" fmla="val 188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860155" y="1398612"/>
            <a:ext cx="4852690" cy="67798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7" name="Text 4"/>
          <p:cNvSpPr/>
          <p:nvPr/>
        </p:nvSpPr>
        <p:spPr>
          <a:xfrm>
            <a:off x="3981971" y="1520428"/>
            <a:ext cx="163562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Seamless Onboarding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981971" y="1773585"/>
            <a:ext cx="460905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flow from splash to success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860155" y="2076599"/>
            <a:ext cx="4852690" cy="67798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0" name="Shape 7"/>
          <p:cNvSpPr/>
          <p:nvPr/>
        </p:nvSpPr>
        <p:spPr>
          <a:xfrm>
            <a:off x="3860155" y="2076599"/>
            <a:ext cx="4852690" cy="14288"/>
          </a:xfrm>
          <a:prstGeom prst="roundRect">
            <a:avLst>
              <a:gd name="adj" fmla="val 358127"/>
            </a:avLst>
          </a:prstGeom>
          <a:solidFill>
            <a:srgbClr val="C0C1D7"/>
          </a:solidFill>
          <a:ln/>
        </p:spPr>
      </p:sp>
      <p:sp>
        <p:nvSpPr>
          <p:cNvPr id="11" name="Text 8"/>
          <p:cNvSpPr/>
          <p:nvPr/>
        </p:nvSpPr>
        <p:spPr>
          <a:xfrm>
            <a:off x="3981971" y="2198415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Signup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981971" y="2451571"/>
            <a:ext cx="460905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OTP + social login options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60155" y="2754585"/>
            <a:ext cx="4852690" cy="67798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4" name="Shape 11"/>
          <p:cNvSpPr/>
          <p:nvPr/>
        </p:nvSpPr>
        <p:spPr>
          <a:xfrm>
            <a:off x="3860155" y="2754585"/>
            <a:ext cx="4852690" cy="14288"/>
          </a:xfrm>
          <a:prstGeom prst="roundRect">
            <a:avLst>
              <a:gd name="adj" fmla="val 358127"/>
            </a:avLst>
          </a:prstGeom>
          <a:solidFill>
            <a:srgbClr val="C0C1D7"/>
          </a:solidFill>
          <a:ln/>
        </p:spPr>
      </p:sp>
      <p:sp>
        <p:nvSpPr>
          <p:cNvPr id="15" name="Text 12"/>
          <p:cNvSpPr/>
          <p:nvPr/>
        </p:nvSpPr>
        <p:spPr>
          <a:xfrm>
            <a:off x="3981971" y="2876401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Modern UI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981971" y="3129558"/>
            <a:ext cx="460905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consistent design system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860155" y="3432572"/>
            <a:ext cx="4852690" cy="67798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8" name="Shape 15"/>
          <p:cNvSpPr/>
          <p:nvPr/>
        </p:nvSpPr>
        <p:spPr>
          <a:xfrm>
            <a:off x="3860155" y="3432572"/>
            <a:ext cx="4852690" cy="14288"/>
          </a:xfrm>
          <a:prstGeom prst="roundRect">
            <a:avLst>
              <a:gd name="adj" fmla="val 358127"/>
            </a:avLst>
          </a:prstGeom>
          <a:solidFill>
            <a:srgbClr val="C0C1D7"/>
          </a:solidFill>
          <a:ln/>
        </p:spPr>
      </p:sp>
      <p:sp>
        <p:nvSpPr>
          <p:cNvPr id="19" name="Text 16"/>
          <p:cNvSpPr/>
          <p:nvPr/>
        </p:nvSpPr>
        <p:spPr>
          <a:xfrm>
            <a:off x="3981971" y="3554388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User-Friendly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981971" y="3807544"/>
            <a:ext cx="460905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Accessible and responsive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038079" y="4350767"/>
            <a:ext cx="510592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your time and attention. I welcome any questions or feedback.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584</Words>
  <Application>Microsoft Office PowerPoint</Application>
  <PresentationFormat>On-screen Show (16:9)</PresentationFormat>
  <Paragraphs>125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Inter Bold</vt:lpstr>
      <vt:lpstr>Inter</vt:lpstr>
      <vt:lpstr>Inter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Khushi Kundariya</cp:lastModifiedBy>
  <cp:revision>5</cp:revision>
  <dcterms:created xsi:type="dcterms:W3CDTF">2026-06-10T09:18:16Z</dcterms:created>
  <dcterms:modified xsi:type="dcterms:W3CDTF">2026-06-10T09:26:48Z</dcterms:modified>
</cp:coreProperties>
</file>